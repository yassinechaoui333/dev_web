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e1f3441802486a" /><Relationship Type="http://schemas.openxmlformats.org/officeDocument/2006/relationships/extended-properties" Target="/docProps/app.xml" Id="R9a15f0459ece4077" /><Relationship Type="http://schemas.openxmlformats.org/officeDocument/2006/relationships/officeDocument" Target="/ppt/presentation.xml" Id="R10c6fcb2b0be40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6e1283429542eb"/>
  </p:sldMasterIdLst>
  <p:notesMasterIdLst>
    <p:notesMasterId xmlns:r="http://schemas.openxmlformats.org/officeDocument/2006/relationships" r:id="R4392baf3736a4643"/>
  </p:notesMasterIdLst>
  <p:sldIdLst>
    <p:sldId xmlns:r="http://schemas.openxmlformats.org/officeDocument/2006/relationships" id="256" r:id="R6abea7e15c7c4090"/>
    <p:sldId xmlns:r="http://schemas.openxmlformats.org/officeDocument/2006/relationships" id="257" r:id="R80c0c2a94f4745f0"/>
    <p:sldId xmlns:r="http://schemas.openxmlformats.org/officeDocument/2006/relationships" id="258" r:id="R9a7daa9e21524c28"/>
    <p:sldId xmlns:r="http://schemas.openxmlformats.org/officeDocument/2006/relationships" id="259" r:id="R1cc6d629f1734399"/>
    <p:sldId xmlns:r="http://schemas.openxmlformats.org/officeDocument/2006/relationships" id="260" r:id="R0823de4aa1774725"/>
    <p:sldId xmlns:r="http://schemas.openxmlformats.org/officeDocument/2006/relationships" id="261" r:id="R12028d61b3774fd6"/>
    <p:sldId xmlns:r="http://schemas.openxmlformats.org/officeDocument/2006/relationships" id="262" r:id="R0cb729c7631b4206"/>
    <p:sldId xmlns:r="http://schemas.openxmlformats.org/officeDocument/2006/relationships" id="263" r:id="Redd049f40c4b4d68"/>
    <p:sldId xmlns:r="http://schemas.openxmlformats.org/officeDocument/2006/relationships" id="264" r:id="R37f5819804d2474c"/>
    <p:sldId xmlns:r="http://schemas.openxmlformats.org/officeDocument/2006/relationships" id="265" r:id="R692b3a0bfb034b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8d4176b30542a6" /><Relationship Type="http://schemas.openxmlformats.org/officeDocument/2006/relationships/slideMaster" Target="/ppt/slideMasters/slideMaster1.xml" Id="Rad6e1283429542eb" /><Relationship Type="http://schemas.openxmlformats.org/officeDocument/2006/relationships/notesMaster" Target="/ppt/notesMasters/notesMaster1.xml" Id="R4392baf3736a4643" /><Relationship Type="http://schemas.openxmlformats.org/officeDocument/2006/relationships/presProps" Target="/ppt/presProps.xml" Id="Rd1846511401e4d97" /><Relationship Type="http://schemas.openxmlformats.org/officeDocument/2006/relationships/tableStyles" Target="/ppt/tableStyles.xml" Id="Rdc7f97374b5d4560" /><Relationship Type="http://schemas.openxmlformats.org/officeDocument/2006/relationships/slide" Target="/ppt/slides/slide1.xml" Id="R6abea7e15c7c4090" /><Relationship Type="http://schemas.openxmlformats.org/officeDocument/2006/relationships/slide" Target="/ppt/slides/slide2.xml" Id="R80c0c2a94f4745f0" /><Relationship Type="http://schemas.openxmlformats.org/officeDocument/2006/relationships/slide" Target="/ppt/slides/slide3.xml" Id="R9a7daa9e21524c28" /><Relationship Type="http://schemas.openxmlformats.org/officeDocument/2006/relationships/slide" Target="/ppt/slides/slide4.xml" Id="R1cc6d629f1734399" /><Relationship Type="http://schemas.openxmlformats.org/officeDocument/2006/relationships/slide" Target="/ppt/slides/slide5.xml" Id="R0823de4aa1774725" /><Relationship Type="http://schemas.openxmlformats.org/officeDocument/2006/relationships/slide" Target="/ppt/slides/slide6.xml" Id="R12028d61b3774fd6" /><Relationship Type="http://schemas.openxmlformats.org/officeDocument/2006/relationships/slide" Target="/ppt/slides/slide7.xml" Id="R0cb729c7631b4206" /><Relationship Type="http://schemas.openxmlformats.org/officeDocument/2006/relationships/slide" Target="/ppt/slides/slide8.xml" Id="Redd049f40c4b4d68" /><Relationship Type="http://schemas.openxmlformats.org/officeDocument/2006/relationships/slide" Target="/ppt/slides/slide9.xml" Id="R37f5819804d2474c" /><Relationship Type="http://schemas.openxmlformats.org/officeDocument/2006/relationships/slide" Target="/ppt/slides/slide10.xml" Id="R692b3a0bfb034b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da59ec4ecd48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99e248f76f47d7" /><Relationship Type="http://schemas.openxmlformats.org/officeDocument/2006/relationships/notesMaster" Target="/ppt/notesMasters/notesMaster1.xml" Id="R1df50dd37d4041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97baf0bb274045" /><Relationship Type="http://schemas.openxmlformats.org/officeDocument/2006/relationships/notesMaster" Target="/ppt/notesMasters/notesMaster1.xml" Id="R1628957f18624b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00262d884a4b56" /><Relationship Type="http://schemas.openxmlformats.org/officeDocument/2006/relationships/notesMaster" Target="/ppt/notesMasters/notesMaster1.xml" Id="R4b8432946a574a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f6e1399b4740af" /><Relationship Type="http://schemas.openxmlformats.org/officeDocument/2006/relationships/notesMaster" Target="/ppt/notesMasters/notesMaster1.xml" Id="R50835925ab7143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a38de34cbf4dcf" /><Relationship Type="http://schemas.openxmlformats.org/officeDocument/2006/relationships/notesMaster" Target="/ppt/notesMasters/notesMaster1.xml" Id="R7bc2ba4bda0843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c1ab2b72df4693" /><Relationship Type="http://schemas.openxmlformats.org/officeDocument/2006/relationships/notesMaster" Target="/ppt/notesMasters/notesMaster1.xml" Id="Rd6f35e8d01d740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a4bf0aaa854e9b" /><Relationship Type="http://schemas.openxmlformats.org/officeDocument/2006/relationships/notesMaster" Target="/ppt/notesMasters/notesMaster1.xml" Id="Rbd5b71e9394c4e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214f3f05b24b50" /><Relationship Type="http://schemas.openxmlformats.org/officeDocument/2006/relationships/notesMaster" Target="/ppt/notesMasters/notesMaster1.xml" Id="Rcf558faf574242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fda83c4a0f426c" /><Relationship Type="http://schemas.openxmlformats.org/officeDocument/2006/relationships/notesMaster" Target="/ppt/notesMasters/notesMaster1.xml" Id="Re5da8a27bb5d47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1a9bfd0254440c" /><Relationship Type="http://schemas.openxmlformats.org/officeDocument/2006/relationships/notesMaster" Target="/ppt/notesMasters/notesMaster1.xml" Id="R1f73aa7a56dd49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Présenter le domaine choisi : les ventes. Le MVP couvre le cycle complet demandé dans le cahier des charges.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Montrer les cinq étapes dans l’ordre. Un fichier ne devient exploitable qu’après son import terminé.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docs/architecture.md. Le traitement des imports est un petit worker dans le processus serveur, avec états persistés dans PostgreSQL.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répartition fonctionnelle suit les responsabilités du groupe. Elle ne constitue pas une attestation de l’historique de contribution individuelle.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fixtures/ventes-demo.csv et tests d’intégration. Le SHA-256 évite de réimporter le même fichier dans un dataset. Les transactions empêchent une publication partielle.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docs/analytics-conventions.md et fixtures/README.md. Score = 50 % validité + 30 % complétude + 20 % unicité. Les candidats doublons et les valeurs atypiques ne sont pas supprimés.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modules/dashboards et vérification navigateur. Tous les widgets utilisent les filtres enregistrés. La révocation du partage est appliquée à la requête suivante.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modules/auth, modules/admin et tests. Les mots de passe utilisent scrypt, le cookie est HttpOnly, le rôle est contrôlé côté serveur. L’administrateur supervise les métadonnées sans accès implicite aux ventes privées.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fixtures/README.md. Dix lignes sources, huit acceptées, deux rejetées. CA net 141,75 GBP, 6 commandes, panier moyen 23,63 GBP, score 90/100. Les montants par pays incluent les retours.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Ordre de démonstration : connexion, dataset, import du CSV fourni, rapport des rejets, analyses, dashboard, partage puis révocation. Limites : petit volume, stockage des fichiers en base, worker simple ; pas de prévision, MFA, récupération de mot de passe ni déploiement de production automatisé.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f0920e121d4e6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75c11ef414444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7678d282ff4f6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892926ebff4c4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e6f626ebd4491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9aa992c2214e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50D981-66C8-4136-A2D2-06D9FEF671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9A625CE-BB11-4D85-9978-9B280DAA800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4C05D6E-B0B0-4A56-B0D9-78D7B3E572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466212-98D7-4426-A511-F87C4A898E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F5A4730-04A9-4B0F-AE52-DB824913C4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B28DE7-14F6-4B00-90F4-6BC7F65AA0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B295CC-538D-4581-85A5-AD606A2C64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4E32E65-BE45-46B8-8691-AF4BB9F4308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0AC73B-1BC0-4A97-BC85-6328746326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7F4A887-8008-4EB8-B402-08F44A6631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933a51f31745da" /><Relationship Type="http://schemas.openxmlformats.org/officeDocument/2006/relationships/slideLayout" Target="/ppt/slideLayouts/slideLayout1.xml" Id="Rafe75f2ee0384129" /><Relationship Type="http://schemas.openxmlformats.org/officeDocument/2006/relationships/slideLayout" Target="/ppt/slideLayouts/slideLayout2.xml" Id="Rb363763fadb4491d" /><Relationship Type="http://schemas.openxmlformats.org/officeDocument/2006/relationships/slideLayout" Target="/ppt/slideLayouts/slideLayout3.xml" Id="R95cdb7db8b92437f" /><Relationship Type="http://schemas.openxmlformats.org/officeDocument/2006/relationships/slideLayout" Target="/ppt/slideLayouts/slideLayout4.xml" Id="Rd905e8009d4c4cbc" /><Relationship Type="http://schemas.openxmlformats.org/officeDocument/2006/relationships/slideLayout" Target="/ppt/slideLayouts/slideLayout5.xml" Id="Rd7bb715a6eaa4ec9" /><Relationship Type="http://schemas.openxmlformats.org/officeDocument/2006/relationships/slideLayout" Target="/ppt/slideLayouts/slideLayout6.xml" Id="R79fd4b8cd1e94a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e75f2ee0384129"/>
    <p:sldLayoutId xmlns:r="http://schemas.openxmlformats.org/officeDocument/2006/relationships" id="2147483650" r:id="Rb363763fadb4491d"/>
    <p:sldLayoutId xmlns:r="http://schemas.openxmlformats.org/officeDocument/2006/relationships" id="2147483651" r:id="R95cdb7db8b92437f"/>
    <p:sldLayoutId xmlns:r="http://schemas.openxmlformats.org/officeDocument/2006/relationships" id="2147483652" r:id="Rd905e8009d4c4cbc"/>
    <p:sldLayoutId xmlns:r="http://schemas.openxmlformats.org/officeDocument/2006/relationships" id="2147483653" r:id="Rd7bb715a6eaa4ec9"/>
    <p:sldLayoutId xmlns:r="http://schemas.openxmlformats.org/officeDocument/2006/relationships" id="2147483654" r:id="R79fd4b8cd1e94a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62403d6ebb46b1" /><Relationship Type="http://schemas.openxmlformats.org/officeDocument/2006/relationships/notesSlide" Target="/ppt/notesSlides/notesSlide1.xml" Id="Rcedbcfb893a440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5a492d93704ad7" /><Relationship Type="http://schemas.openxmlformats.org/officeDocument/2006/relationships/notesSlide" Target="/ppt/notesSlides/notesSlide2.xml" Id="R02966bab041541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1e58bf4564471d" /><Relationship Type="http://schemas.openxmlformats.org/officeDocument/2006/relationships/notesSlide" Target="/ppt/notesSlides/notesSlide3.xml" Id="R8425dc9c0b5a42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92b6586b8447fc" /><Relationship Type="http://schemas.openxmlformats.org/officeDocument/2006/relationships/notesSlide" Target="/ppt/notesSlides/notesSlide4.xml" Id="R95ec0ef0539740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4ff40834cb4a61" /><Relationship Type="http://schemas.openxmlformats.org/officeDocument/2006/relationships/image" Target="/ppt/media/image.png" Id="Ra778165be3284588" /><Relationship Type="http://schemas.openxmlformats.org/officeDocument/2006/relationships/notesSlide" Target="/ppt/notesSlides/notesSlide5.xml" Id="Rea8d21611b8141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2e19995a9b4252" /><Relationship Type="http://schemas.openxmlformats.org/officeDocument/2006/relationships/image" Target="/ppt/media/image2.png" Id="R62465afa62ec4b5d" /><Relationship Type="http://schemas.openxmlformats.org/officeDocument/2006/relationships/notesSlide" Target="/ppt/notesSlides/notesSlide6.xml" Id="Re54885d9612f43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f3e482afbb4631" /><Relationship Type="http://schemas.openxmlformats.org/officeDocument/2006/relationships/image" Target="/ppt/media/image3.png" Id="R15dc09bab0394ef3" /><Relationship Type="http://schemas.openxmlformats.org/officeDocument/2006/relationships/notesSlide" Target="/ppt/notesSlides/notesSlide7.xml" Id="R17a246ef925548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5c5a20a8904bf1" /><Relationship Type="http://schemas.openxmlformats.org/officeDocument/2006/relationships/image" Target="/ppt/media/image4.png" Id="R7bfba2de15714dd9" /><Relationship Type="http://schemas.openxmlformats.org/officeDocument/2006/relationships/notesSlide" Target="/ppt/notesSlides/notesSlide8.xml" Id="Rf1defe07da1049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144b41d4ee4154" /><Relationship Type="http://schemas.openxmlformats.org/officeDocument/2006/relationships/chart" Target="/ppt/slides/charts/chart1.xml" Id="Re02c838e20d64e50" /><Relationship Type="http://schemas.openxmlformats.org/officeDocument/2006/relationships/notesSlide" Target="/ppt/notesSlides/notesSlide9.xml" Id="Rf813e3a860584c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9376a1ba554284" /><Relationship Type="http://schemas.openxmlformats.org/officeDocument/2006/relationships/notesSlide" Target="/ppt/notesSlides/notesSlide10.xml" Id="R06c7e79981e04a4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CA net en GBP</c:v>
          </c:tx>
          <c:spPr>
            <a:solidFill xmlns:a="http://schemas.openxmlformats.org/drawingml/2006/main">
              <a:srgbClr val="16634C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Royaume-Uni</c:v>
                </c:pt>
                <c:pt idx="1">
                  <c:v>France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32.75</c:v>
                </c:pt>
                <c:pt idx="1">
                  <c:v>109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643C89F-7C03-4560-AC07-8FDE37F8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634C"/>
                </a:solidFill>
                <a:latin typeface="Arial"/>
                <a:ea typeface="Arial"/>
                <a:cs typeface="Arial"/>
              </a:rPr>
              <a:t>Sales &amp; Data Quality Platform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C1CB57FE-3B1A-4B01-8B1E-A0ECFC3F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76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EE84AE1-473D-4C4B-AFD4-D8D79620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00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82F"/>
                </a:solidFill>
                <a:latin typeface="Arial"/>
                <a:ea typeface="Arial"/>
                <a:cs typeface="Arial"/>
              </a:rPr>
              <a:t>Plateforme collaborative d’analyse des ventes</a:t>
            </a:r>
          </a:p>
        </p:txBody>
      </p:sp>
      <p:sp>
        <p:nvSpPr>
          <p:cNvPr id="4" name="team">
            <a:extLst xmlns:a="http://schemas.openxmlformats.org/drawingml/2006/main">
              <a:ext uri="{FF2B5EF4-FFF2-40B4-BE49-F238E27FC236}">
                <a16:creationId xmlns:a16="http://schemas.microsoft.com/office/drawing/2014/main" id="{923588B0-F730-4714-BDB9-A42424B7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6634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634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634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634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634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634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634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634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634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6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634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634C"/>
                </a:solidFill>
                <a:latin typeface="Arial"/>
                <a:ea typeface="Arial"/>
                <a:cs typeface="Arial"/>
              </a:rPr>
              <a:t>Yassine · Ahmed · Taha · Abdelali</a:t>
            </a:r>
          </a:p>
        </p:txBody>
      </p:sp>
      <p:sp>
        <p:nvSpPr>
          <p:cNvPr id="5" name="context">
            <a:extLst xmlns:a="http://schemas.openxmlformats.org/drawingml/2006/main">
              <a:ext uri="{FF2B5EF4-FFF2-40B4-BE49-F238E27FC236}">
                <a16:creationId xmlns:a16="http://schemas.microsoft.com/office/drawing/2014/main" id="{CB963B1F-0087-4D95-80A6-640646D3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76C"/>
                </a:solidFill>
                <a:latin typeface="Arial"/>
                <a:ea typeface="Arial"/>
                <a:cs typeface="Arial"/>
              </a:rPr>
              <a:t>Projet Full Stack · React, Node.js et PostgreSQL</a:t>
            </a:r>
          </a:p>
          <a:p xmlns:a="http://schemas.openxmlformats.org/drawingml/2006/main">
            <a:pPr>
              <a:defRPr sz="18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76C"/>
                </a:solidFill>
                <a:latin typeface="Arial"/>
                <a:ea typeface="Arial"/>
                <a:cs typeface="Arial"/>
              </a:rPr>
              <a:t>Octobre 2026</a:t>
            </a:r>
          </a:p>
        </p:txBody>
      </p:sp>
    </p:spTree>
    <p:extLst>
      <p:ext uri="{BB962C8B-B14F-4D97-AF65-F5344CB8AC3E}">
        <p14:creationId xmlns:p14="http://schemas.microsoft.com/office/powerpoint/2010/main" val="14170829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DA5CCB99-F3D5-4B57-803F-6503CB54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634C"/>
                </a:solidFill>
                <a:latin typeface="Arial"/>
                <a:ea typeface="Arial"/>
                <a:cs typeface="Arial"/>
              </a:rPr>
              <a:t>Un parcours simple pour exploiter un CSV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69793812-856C-49C9-85A4-4DF94A3D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76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0391839C-0235-4D21-944D-FEB911C2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6634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4DFDD933-4FD6-484B-9552-E8C67C8D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857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382F"/>
                </a:solidFill>
                <a:latin typeface="Arial"/>
                <a:ea typeface="Arial"/>
                <a:cs typeface="Arial"/>
              </a:rPr>
              <a:t>Importer</a:t>
            </a:r>
          </a:p>
        </p:txBody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800B6411-583E-4210-A1A8-9FBFDCC2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43250"/>
            <a:ext cx="2667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634C"/>
          </a:solidFill>
          <a:ln xmlns:a="http://schemas.openxmlformats.org/drawingml/2006/main" w="0">
            <a:noFill/>
          </a:ln>
        </p:spPr>
      </p:sp>
      <p:sp>
        <p:nvSpPr>
          <p:cNvPr id="6" name="step-1">
            <a:extLst xmlns:a="http://schemas.openxmlformats.org/drawingml/2006/main">
              <a:ext uri="{FF2B5EF4-FFF2-40B4-BE49-F238E27FC236}">
                <a16:creationId xmlns:a16="http://schemas.microsoft.com/office/drawing/2014/main" id="{21BE6FE7-5E53-46D1-B471-F638E26F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190750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6634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CB6BD2B3-B623-43ED-B4C3-3981C847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048000"/>
            <a:ext cx="1857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382F"/>
                </a:solidFill>
                <a:latin typeface="Arial"/>
                <a:ea typeface="Arial"/>
                <a:cs typeface="Arial"/>
              </a:rPr>
              <a:t>Explorer</a:t>
            </a:r>
          </a:p>
        </p:txBody>
      </p:sp>
      <p:sp>
        <p:nvSpPr>
          <p:cNvPr id="8" name="arrow-1">
            <a:extLst xmlns:a="http://schemas.openxmlformats.org/drawingml/2006/main">
              <a:ext uri="{FF2B5EF4-FFF2-40B4-BE49-F238E27FC236}">
                <a16:creationId xmlns:a16="http://schemas.microsoft.com/office/drawing/2014/main" id="{B6E9A180-AC81-4400-8358-C4C88EEE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43250"/>
            <a:ext cx="2667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634C"/>
          </a:solidFill>
          <a:ln xmlns:a="http://schemas.openxmlformats.org/drawingml/2006/main" w="0">
            <a:noFill/>
          </a:ln>
        </p:spPr>
      </p:sp>
      <p:sp>
        <p:nvSpPr>
          <p:cNvPr id="9" name="step-2">
            <a:extLst xmlns:a="http://schemas.openxmlformats.org/drawingml/2006/main">
              <a:ext uri="{FF2B5EF4-FFF2-40B4-BE49-F238E27FC236}">
                <a16:creationId xmlns:a16="http://schemas.microsoft.com/office/drawing/2014/main" id="{FE7DA904-DA76-4A50-A165-7CBAE5BD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90750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6634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9011A152-9C27-4055-A04F-4A71D3E3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48000"/>
            <a:ext cx="1857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382F"/>
                </a:solidFill>
                <a:latin typeface="Arial"/>
                <a:ea typeface="Arial"/>
                <a:cs typeface="Arial"/>
              </a:rPr>
              <a:t>Analyser</a:t>
            </a:r>
          </a:p>
        </p:txBody>
      </p:sp>
      <p:sp>
        <p:nvSpPr>
          <p:cNvPr id="11" name="arrow-2">
            <a:extLst xmlns:a="http://schemas.openxmlformats.org/drawingml/2006/main">
              <a:ext uri="{FF2B5EF4-FFF2-40B4-BE49-F238E27FC236}">
                <a16:creationId xmlns:a16="http://schemas.microsoft.com/office/drawing/2014/main" id="{B2779732-00EC-45F1-B109-C5E64DB9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3250"/>
            <a:ext cx="2667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634C"/>
          </a:solidFill>
          <a:ln xmlns:a="http://schemas.openxmlformats.org/drawingml/2006/main" w="0">
            <a:noFill/>
          </a:ln>
        </p:spPr>
      </p:sp>
      <p:sp>
        <p:nvSpPr>
          <p:cNvPr id="12" name="step-3">
            <a:extLst xmlns:a="http://schemas.openxmlformats.org/drawingml/2006/main">
              <a:ext uri="{FF2B5EF4-FFF2-40B4-BE49-F238E27FC236}">
                <a16:creationId xmlns:a16="http://schemas.microsoft.com/office/drawing/2014/main" id="{6986E79F-A471-4419-9717-45CA8CA5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190750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6634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73060A39-7590-4F18-B055-BCA6A232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048000"/>
            <a:ext cx="1857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382F"/>
                </a:solidFill>
                <a:latin typeface="Arial"/>
                <a:ea typeface="Arial"/>
                <a:cs typeface="Arial"/>
              </a:rPr>
              <a:t>Visualiser</a:t>
            </a:r>
          </a:p>
        </p:txBody>
      </p:sp>
      <p:sp>
        <p:nvSpPr>
          <p:cNvPr id="14" name="arrow-3">
            <a:extLst xmlns:a="http://schemas.openxmlformats.org/drawingml/2006/main">
              <a:ext uri="{FF2B5EF4-FFF2-40B4-BE49-F238E27FC236}">
                <a16:creationId xmlns:a16="http://schemas.microsoft.com/office/drawing/2014/main" id="{471E4FBF-C6F6-4985-A106-B6B39E6A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143250"/>
            <a:ext cx="2667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634C"/>
          </a:solidFill>
          <a:ln xmlns:a="http://schemas.openxmlformats.org/drawingml/2006/main" w="0">
            <a:noFill/>
          </a:ln>
        </p:spPr>
      </p:sp>
      <p:sp>
        <p:nvSpPr>
          <p:cNvPr id="15" name="step-4">
            <a:extLst xmlns:a="http://schemas.openxmlformats.org/drawingml/2006/main">
              <a:ext uri="{FF2B5EF4-FFF2-40B4-BE49-F238E27FC236}">
                <a16:creationId xmlns:a16="http://schemas.microsoft.com/office/drawing/2014/main" id="{523BC8AB-04F4-4905-810E-3F1973BD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90750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6634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step-label-4">
            <a:extLst xmlns:a="http://schemas.openxmlformats.org/drawingml/2006/main">
              <a:ext uri="{FF2B5EF4-FFF2-40B4-BE49-F238E27FC236}">
                <a16:creationId xmlns:a16="http://schemas.microsoft.com/office/drawing/2014/main" id="{A00179D5-DE34-4EC9-ADF2-EC26ABBB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48000"/>
            <a:ext cx="1857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382F"/>
                </a:solidFill>
                <a:latin typeface="Arial"/>
                <a:ea typeface="Arial"/>
                <a:cs typeface="Arial"/>
              </a:rPr>
              <a:t>Partager</a:t>
            </a:r>
          </a:p>
        </p:txBody>
      </p:sp>
      <p:sp>
        <p:nvSpPr>
          <p:cNvPr id="17" name="result">
            <a:extLst xmlns:a="http://schemas.openxmlformats.org/drawingml/2006/main">
              <a:ext uri="{FF2B5EF4-FFF2-40B4-BE49-F238E27FC236}">
                <a16:creationId xmlns:a16="http://schemas.microsoft.com/office/drawing/2014/main" id="{ACB4ED53-0F17-40A3-BEA8-5B51502A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4776C"/>
                </a:solidFill>
                <a:latin typeface="Arial"/>
                <a:ea typeface="Arial"/>
                <a:cs typeface="Arial"/>
              </a:rPr>
              <a:t>Une analyse enregistrée reste consultable et peut être partagée</a:t>
            </a:r>
          </a:p>
          <a:p xmlns:a="http://schemas.openxmlformats.org/drawingml/2006/main">
            <a:pPr>
              <a:defRPr sz="21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4776C"/>
                </a:solidFill>
                <a:latin typeface="Arial"/>
                <a:ea typeface="Arial"/>
                <a:cs typeface="Arial"/>
              </a:rPr>
              <a:t>avec un autre utilisateur inscrit, en lecture seule.</a:t>
            </a:r>
          </a:p>
        </p:txBody>
      </p:sp>
    </p:spTree>
    <p:extLst>
      <p:ext uri="{BB962C8B-B14F-4D97-AF65-F5344CB8AC3E}">
        <p14:creationId xmlns:p14="http://schemas.microsoft.com/office/powerpoint/2010/main" val="20022356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3947CB4E-6F43-49EA-A84F-122E8AE0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634C"/>
                </a:solidFill>
                <a:latin typeface="Arial"/>
                <a:ea typeface="Arial"/>
                <a:cs typeface="Arial"/>
              </a:rPr>
              <a:t>Une architecture en trois couches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546F00C7-7511-4085-B56F-45C47555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76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layer-0">
            <a:extLst xmlns:a="http://schemas.openxmlformats.org/drawingml/2006/main">
              <a:ext uri="{FF2B5EF4-FFF2-40B4-BE49-F238E27FC236}">
                <a16:creationId xmlns:a16="http://schemas.microsoft.com/office/drawing/2014/main" id="{16062C51-F3B2-4D83-A085-1DDD60D0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3333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E7"/>
          </a:solidFill>
          <a:ln xmlns:a="http://schemas.openxmlformats.org/drawingml/2006/main" w="9525">
            <a:solidFill>
              <a:srgbClr val="B7CDBE"/>
            </a:solidFill>
          </a:ln>
        </p:spPr>
      </p:sp>
      <p:sp>
        <p:nvSpPr>
          <p:cNvPr id="4" name="layer-title-0">
            <a:extLst xmlns:a="http://schemas.openxmlformats.org/drawingml/2006/main">
              <a:ext uri="{FF2B5EF4-FFF2-40B4-BE49-F238E27FC236}">
                <a16:creationId xmlns:a16="http://schemas.microsoft.com/office/drawing/2014/main" id="{EE1E73E3-8591-4B1E-A9EF-F85A8D91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990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634C"/>
                </a:solidFill>
                <a:latin typeface="Arial"/>
                <a:ea typeface="Arial"/>
                <a:cs typeface="Arial"/>
              </a:rPr>
              <a:t>React + Vite</a:t>
            </a:r>
          </a:p>
        </p:txBody>
      </p:sp>
      <p:sp>
        <p:nvSpPr>
          <p:cNvPr id="5" name="layer-description-0">
            <a:extLst xmlns:a="http://schemas.openxmlformats.org/drawingml/2006/main">
              <a:ext uri="{FF2B5EF4-FFF2-40B4-BE49-F238E27FC236}">
                <a16:creationId xmlns:a16="http://schemas.microsoft.com/office/drawing/2014/main" id="{D7E8DE30-8F37-43C0-B601-C6F08011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82F"/>
                </a:solidFill>
                <a:latin typeface="Arial"/>
                <a:ea typeface="Arial"/>
                <a:cs typeface="Arial"/>
              </a:rPr>
              <a:t>Écrans, navigation, filtres</a:t>
            </a:r>
          </a:p>
        </p:txBody>
      </p:sp>
      <p:sp>
        <p:nvSpPr>
          <p:cNvPr id="6" name="architecture-arrow-0">
            <a:extLst xmlns:a="http://schemas.openxmlformats.org/drawingml/2006/main">
              <a:ext uri="{FF2B5EF4-FFF2-40B4-BE49-F238E27FC236}">
                <a16:creationId xmlns:a16="http://schemas.microsoft.com/office/drawing/2014/main" id="{D424A53C-BBDA-4176-8538-3E95E473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952750"/>
            <a:ext cx="2476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634C"/>
          </a:solidFill>
          <a:ln xmlns:a="http://schemas.openxmlformats.org/drawingml/2006/main" w="0">
            <a:noFill/>
          </a:ln>
        </p:spPr>
      </p:sp>
      <p:sp>
        <p:nvSpPr>
          <p:cNvPr id="7" name="layer-1">
            <a:extLst xmlns:a="http://schemas.openxmlformats.org/drawingml/2006/main">
              <a:ext uri="{FF2B5EF4-FFF2-40B4-BE49-F238E27FC236}">
                <a16:creationId xmlns:a16="http://schemas.microsoft.com/office/drawing/2014/main" id="{CC79C41E-7676-438E-9DCE-68CB4E1F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43125"/>
            <a:ext cx="3333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E7"/>
          </a:solidFill>
          <a:ln xmlns:a="http://schemas.openxmlformats.org/drawingml/2006/main" w="9525">
            <a:solidFill>
              <a:srgbClr val="B7CDBE"/>
            </a:solidFill>
          </a:ln>
        </p:spPr>
      </p:sp>
      <p:sp>
        <p:nvSpPr>
          <p:cNvPr id="8" name="layer-title-1">
            <a:extLst xmlns:a="http://schemas.openxmlformats.org/drawingml/2006/main">
              <a:ext uri="{FF2B5EF4-FFF2-40B4-BE49-F238E27FC236}">
                <a16:creationId xmlns:a16="http://schemas.microsoft.com/office/drawing/2014/main" id="{76FDDB54-0020-4D52-B2C9-527D0A39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28875"/>
            <a:ext cx="2990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634C"/>
                </a:solidFill>
                <a:latin typeface="Arial"/>
                <a:ea typeface="Arial"/>
                <a:cs typeface="Arial"/>
              </a:rPr>
              <a:t>Express + TypeScript</a:t>
            </a:r>
          </a:p>
        </p:txBody>
      </p:sp>
      <p:sp>
        <p:nvSpPr>
          <p:cNvPr id="9" name="layer-description-1">
            <a:extLst xmlns:a="http://schemas.openxmlformats.org/drawingml/2006/main">
              <a:ext uri="{FF2B5EF4-FFF2-40B4-BE49-F238E27FC236}">
                <a16:creationId xmlns:a16="http://schemas.microsoft.com/office/drawing/2014/main" id="{1217C064-94FA-458B-B5BB-77B2715F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3750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82F"/>
                </a:solidFill>
                <a:latin typeface="Arial"/>
                <a:ea typeface="Arial"/>
                <a:cs typeface="Arial"/>
              </a:rPr>
              <a:t>API, droits, imports, calculs</a:t>
            </a:r>
          </a:p>
        </p:txBody>
      </p:sp>
      <p:sp>
        <p:nvSpPr>
          <p:cNvPr id="10" name="architecture-arrow-1">
            <a:extLst xmlns:a="http://schemas.openxmlformats.org/drawingml/2006/main">
              <a:ext uri="{FF2B5EF4-FFF2-40B4-BE49-F238E27FC236}">
                <a16:creationId xmlns:a16="http://schemas.microsoft.com/office/drawing/2014/main" id="{C46A9FE3-972D-4EC8-933C-9DBD2499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952750"/>
            <a:ext cx="2476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634C"/>
          </a:solidFill>
          <a:ln xmlns:a="http://schemas.openxmlformats.org/drawingml/2006/main" w="0">
            <a:noFill/>
          </a:ln>
        </p:spPr>
      </p:sp>
      <p:sp>
        <p:nvSpPr>
          <p:cNvPr id="11" name="layer-2">
            <a:extLst xmlns:a="http://schemas.openxmlformats.org/drawingml/2006/main">
              <a:ext uri="{FF2B5EF4-FFF2-40B4-BE49-F238E27FC236}">
                <a16:creationId xmlns:a16="http://schemas.microsoft.com/office/drawing/2014/main" id="{0F84D1CA-C467-4D6B-8978-B21002FB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43125"/>
            <a:ext cx="3333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E7"/>
          </a:solidFill>
          <a:ln xmlns:a="http://schemas.openxmlformats.org/drawingml/2006/main" w="9525">
            <a:solidFill>
              <a:srgbClr val="B7CDBE"/>
            </a:solidFill>
          </a:ln>
        </p:spPr>
      </p:sp>
      <p:sp>
        <p:nvSpPr>
          <p:cNvPr id="12" name="layer-title-2">
            <a:extLst xmlns:a="http://schemas.openxmlformats.org/drawingml/2006/main">
              <a:ext uri="{FF2B5EF4-FFF2-40B4-BE49-F238E27FC236}">
                <a16:creationId xmlns:a16="http://schemas.microsoft.com/office/drawing/2014/main" id="{08CC50ED-4056-4867-9ACD-513DB9F0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28875"/>
            <a:ext cx="2990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634C"/>
                </a:solidFill>
                <a:latin typeface="Arial"/>
                <a:ea typeface="Arial"/>
                <a:cs typeface="Arial"/>
              </a:rPr>
              <a:t>PostgreSQL + Prisma</a:t>
            </a:r>
          </a:p>
        </p:txBody>
      </p:sp>
      <p:sp>
        <p:nvSpPr>
          <p:cNvPr id="13" name="layer-description-2">
            <a:extLst xmlns:a="http://schemas.openxmlformats.org/drawingml/2006/main">
              <a:ext uri="{FF2B5EF4-FFF2-40B4-BE49-F238E27FC236}">
                <a16:creationId xmlns:a16="http://schemas.microsoft.com/office/drawing/2014/main" id="{EE1819EA-522B-4D11-9954-5FA35F02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82F"/>
                </a:solidFill>
                <a:latin typeface="Arial"/>
                <a:ea typeface="Arial"/>
                <a:cs typeface="Arial"/>
              </a:rPr>
              <a:t>Données, sessions, dashboards</a:t>
            </a:r>
          </a:p>
        </p:txBody>
      </p:sp>
      <p:sp>
        <p:nvSpPr>
          <p:cNvPr id="14" name="rest">
            <a:extLst xmlns:a="http://schemas.openxmlformats.org/drawingml/2006/main">
              <a:ext uri="{FF2B5EF4-FFF2-40B4-BE49-F238E27FC236}">
                <a16:creationId xmlns:a16="http://schemas.microsoft.com/office/drawing/2014/main" id="{3A0996BC-9A71-4967-BEAD-B08D344E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4776C"/>
                </a:solidFill>
                <a:latin typeface="Arial"/>
                <a:ea typeface="Arial"/>
                <a:cs typeface="Arial"/>
              </a:rPr>
              <a:t>Échanges REST sous /api · Sessions HttpOnly · Calculs décimaux</a:t>
            </a:r>
          </a:p>
        </p:txBody>
      </p:sp>
    </p:spTree>
    <p:extLst>
      <p:ext uri="{BB962C8B-B14F-4D97-AF65-F5344CB8AC3E}">
        <p14:creationId xmlns:p14="http://schemas.microsoft.com/office/powerpoint/2010/main" val="5474350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86F2F58-9D49-484C-BB78-20F0B95C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634C"/>
                </a:solidFill>
                <a:latin typeface="Arial"/>
                <a:ea typeface="Arial"/>
                <a:cs typeface="Arial"/>
              </a:rPr>
              <a:t>Répartition fonctionnelle de l’équipe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437D22C0-A596-4A46-9C83-110C7CA2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76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BB59C-779D-4A7F-AF5B-2D50864CB971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8724900"/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Membre</a:t>
                      </a:r>
                    </a:p>
                  </a:txBody>
                  <a:tcPr marL="91440" marR="91440" marT="45720" marB="45720">
                    <a:solidFill>
                      <a:srgbClr val="1663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Partie du projet</a:t>
                      </a:r>
                    </a:p>
                  </a:txBody>
                  <a:tcPr marL="91440" marR="91440" marT="45720" marB="45720">
                    <a:solidFill>
                      <a:srgbClr val="16634C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82F"/>
                          </a:solidFill>
                          <a:latin typeface="Arial"/>
                          <a:ea typeface="Arial"/>
                          <a:cs typeface="Arial"/>
                        </a:rPr>
                        <a:t>Yassine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82F"/>
                          </a:solidFill>
                          <a:latin typeface="Arial"/>
                          <a:ea typeface="Arial"/>
                          <a:cs typeface="Arial"/>
                        </a:rPr>
                        <a:t>Socle, authentification, droits, profil et administration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82F"/>
                          </a:solidFill>
                          <a:latin typeface="Arial"/>
                          <a:ea typeface="Arial"/>
                          <a:cs typeface="Arial"/>
                        </a:rPr>
                        <a:t>Ahmed</a:t>
                      </a:r>
                    </a:p>
                  </a:txBody>
                  <a:tcPr marL="91440" marR="91440" marT="45720" marB="45720">
                    <a:solidFill>
                      <a:srgbClr val="EA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82F"/>
                          </a:solidFill>
                          <a:latin typeface="Arial"/>
                          <a:ea typeface="Arial"/>
                          <a:cs typeface="Arial"/>
                        </a:rPr>
                        <a:t>Datasets, import CSV, validation et rapports de rejet</a:t>
                      </a:r>
                    </a:p>
                  </a:txBody>
                  <a:tcPr marL="91440" marR="91440" marT="45720" marB="45720">
                    <a:solidFill>
                      <a:srgbClr val="EAF1E9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82F"/>
                          </a:solidFill>
                          <a:latin typeface="Arial"/>
                          <a:ea typeface="Arial"/>
                          <a:cs typeface="Arial"/>
                        </a:rPr>
                        <a:t>Taha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82F"/>
                          </a:solidFill>
                          <a:latin typeface="Arial"/>
                          <a:ea typeface="Arial"/>
                          <a:cs typeface="Arial"/>
                        </a:rPr>
                        <a:t>Exploration, indicateurs, qualité, IQR et comparaisons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82F"/>
                          </a:solidFill>
                          <a:latin typeface="Arial"/>
                          <a:ea typeface="Arial"/>
                          <a:cs typeface="Arial"/>
                        </a:rPr>
                        <a:t>Abdelali</a:t>
                      </a:r>
                    </a:p>
                  </a:txBody>
                  <a:tcPr marL="91440" marR="91440" marT="45720" marB="45720">
                    <a:solidFill>
                      <a:srgbClr val="EA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82F"/>
                          </a:solidFill>
                          <a:latin typeface="Arial"/>
                          <a:ea typeface="Arial"/>
                          <a:cs typeface="Arial"/>
                        </a:rPr>
                        <a:t>Graphiques, dashboards enregistrés et partage</a:t>
                      </a:r>
                    </a:p>
                  </a:txBody>
                  <a:tcPr marL="91440" marR="91440" marT="45720" marB="45720">
                    <a:solidFill>
                      <a:srgbClr val="EAF1E9"/>
                    </a:solidFill>
                  </a:tcPr>
                </a:tc>
              </a:tr>
            </a:tbl>
          </a:graphicData>
        </a:graphic>
      </p:graphicFrame>
      <p:sp>
        <p:nvSpPr>
          <p:cNvPr id="4" name="roles-note">
            <a:extLst xmlns:a="http://schemas.openxmlformats.org/drawingml/2006/main">
              <a:ext uri="{FF2B5EF4-FFF2-40B4-BE49-F238E27FC236}">
                <a16:creationId xmlns:a16="http://schemas.microsoft.com/office/drawing/2014/main" id="{4478C13B-A287-489C-9201-E6A8412A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76C"/>
                </a:solidFill>
                <a:latin typeface="Arial"/>
                <a:ea typeface="Arial"/>
                <a:cs typeface="Arial"/>
              </a:rPr>
              <a:t>Chaque module utilise les mêmes contrats de données et d’API.</a:t>
            </a:r>
          </a:p>
        </p:txBody>
      </p:sp>
    </p:spTree>
    <p:extLst>
      <p:ext uri="{BB962C8B-B14F-4D97-AF65-F5344CB8AC3E}">
        <p14:creationId xmlns:p14="http://schemas.microsoft.com/office/powerpoint/2010/main" val="2920185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C1C76A2E-8F40-40D1-9460-FF10AFB5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634C"/>
                </a:solidFill>
                <a:latin typeface="Arial"/>
                <a:ea typeface="Arial"/>
                <a:cs typeface="Arial"/>
              </a:rPr>
              <a:t>Ahmed — importation et validation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E2FF802B-9005-49EB-A763-AAFF2D2E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76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C71175C7-D8A9-4766-A9F0-ADDB0AE0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82F"/>
                </a:solidFill>
                <a:latin typeface="Arial"/>
                <a:ea typeface="Arial"/>
                <a:cs typeface="Arial"/>
              </a:rPr>
              <a:t>Titre, source, catégorie et devise</a:t>
            </a:r>
          </a:p>
        </p:txBody>
      </p:sp>
      <p:sp>
        <p:nvSpPr>
          <p:cNvPr id="4" name="body-1">
            <a:extLst xmlns:a="http://schemas.openxmlformats.org/drawingml/2006/main">
              <a:ext uri="{FF2B5EF4-FFF2-40B4-BE49-F238E27FC236}">
                <a16:creationId xmlns:a16="http://schemas.microsoft.com/office/drawing/2014/main" id="{065659D2-A79C-456D-A6F5-7578EE37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82F"/>
                </a:solidFill>
                <a:latin typeface="Arial"/>
                <a:ea typeface="Arial"/>
                <a:cs typeface="Arial"/>
              </a:rPr>
              <a:t>CSV limité à 10 Mio</a:t>
            </a:r>
          </a:p>
        </p:txBody>
      </p:sp>
      <p:sp>
        <p:nvSpPr>
          <p:cNvPr id="5" name="body-2">
            <a:extLst xmlns:a="http://schemas.openxmlformats.org/drawingml/2006/main">
              <a:ext uri="{FF2B5EF4-FFF2-40B4-BE49-F238E27FC236}">
                <a16:creationId xmlns:a16="http://schemas.microsoft.com/office/drawing/2014/main" id="{27B5BF62-782B-4919-AC2D-E63F2907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82F"/>
                </a:solidFill>
                <a:latin typeface="Arial"/>
                <a:ea typeface="Arial"/>
                <a:cs typeface="Arial"/>
              </a:rPr>
              <a:t>Fichier original conservé</a:t>
            </a:r>
          </a:p>
        </p:txBody>
      </p:sp>
      <p:sp>
        <p:nvSpPr>
          <p:cNvPr id="6" name="body-3">
            <a:extLst xmlns:a="http://schemas.openxmlformats.org/drawingml/2006/main">
              <a:ext uri="{FF2B5EF4-FFF2-40B4-BE49-F238E27FC236}">
                <a16:creationId xmlns:a16="http://schemas.microsoft.com/office/drawing/2014/main" id="{90D6ED9D-326A-4BE7-987E-21212659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82F"/>
                </a:solidFill>
                <a:latin typeface="Arial"/>
                <a:ea typeface="Arial"/>
                <a:cs typeface="Arial"/>
              </a:rPr>
              <a:t>Exemple : 8 acceptées / 2 rejetées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CE42AC-6482-4FC7-BEE6-F1B7F8684D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78165be3284588"/>
          <a:stretch xmlns:a="http://schemas.openxmlformats.org/drawingml/2006/main"/>
        </p:blipFill>
        <p:spPr>
          <a:xfrm xmlns:a="http://schemas.openxmlformats.org/drawingml/2006/main">
            <a:off x="4804410" y="1571625"/>
            <a:ext cx="658368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4749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737E12D1-00F2-4E9D-BECC-B1E057F3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634C"/>
                </a:solidFill>
                <a:latin typeface="Arial"/>
                <a:ea typeface="Arial"/>
                <a:cs typeface="Arial"/>
              </a:rPr>
              <a:t>Taha — analyses et qualité des données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1F1D2F5E-568E-4E56-833D-5170C186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76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7C6AF88B-A362-4826-836C-6A51C66D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82F"/>
                </a:solidFill>
                <a:latin typeface="Arial"/>
                <a:ea typeface="Arial"/>
                <a:cs typeface="Arial"/>
              </a:rPr>
              <a:t>Filtres et tableau paginé</a:t>
            </a:r>
          </a:p>
        </p:txBody>
      </p:sp>
      <p:sp>
        <p:nvSpPr>
          <p:cNvPr id="4" name="body-1">
            <a:extLst xmlns:a="http://schemas.openxmlformats.org/drawingml/2006/main">
              <a:ext uri="{FF2B5EF4-FFF2-40B4-BE49-F238E27FC236}">
                <a16:creationId xmlns:a16="http://schemas.microsoft.com/office/drawing/2014/main" id="{4A129431-E2EB-4BF7-8EAB-BEB793BF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82F"/>
                </a:solidFill>
                <a:latin typeface="Arial"/>
                <a:ea typeface="Arial"/>
                <a:cs typeface="Arial"/>
              </a:rPr>
              <a:t>CA net, commandes et panier moyen</a:t>
            </a:r>
          </a:p>
        </p:txBody>
      </p:sp>
      <p:sp>
        <p:nvSpPr>
          <p:cNvPr id="5" name="body-2">
            <a:extLst xmlns:a="http://schemas.openxmlformats.org/drawingml/2006/main">
              <a:ext uri="{FF2B5EF4-FFF2-40B4-BE49-F238E27FC236}">
                <a16:creationId xmlns:a16="http://schemas.microsoft.com/office/drawing/2014/main" id="{09A1FDF2-6C20-4782-BF7A-7A904777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82F"/>
                </a:solidFill>
                <a:latin typeface="Arial"/>
                <a:ea typeface="Arial"/>
                <a:cs typeface="Arial"/>
              </a:rPr>
              <a:t>Score, valeurs manquantes et IQR</a:t>
            </a:r>
          </a:p>
        </p:txBody>
      </p:sp>
      <p:sp>
        <p:nvSpPr>
          <p:cNvPr id="6" name="body-3">
            <a:extLst xmlns:a="http://schemas.openxmlformats.org/drawingml/2006/main">
              <a:ext uri="{FF2B5EF4-FFF2-40B4-BE49-F238E27FC236}">
                <a16:creationId xmlns:a16="http://schemas.microsoft.com/office/drawing/2014/main" id="{4289E4A4-1C45-47D5-81F0-6AE1C7DF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82F"/>
                </a:solidFill>
                <a:latin typeface="Arial"/>
                <a:ea typeface="Arial"/>
                <a:cs typeface="Arial"/>
              </a:rPr>
              <a:t>Comparaison de périodes ou datasets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736E58-2747-4102-ABC9-A0C4CB9DBC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65afa62ec4b5d"/>
          <a:stretch xmlns:a="http://schemas.openxmlformats.org/drawingml/2006/main"/>
        </p:blipFill>
        <p:spPr>
          <a:xfrm xmlns:a="http://schemas.openxmlformats.org/drawingml/2006/main">
            <a:off x="4804410" y="1571625"/>
            <a:ext cx="658368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350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1C518C54-E456-4D9D-ADD5-C97B7004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634C"/>
                </a:solidFill>
                <a:latin typeface="Arial"/>
                <a:ea typeface="Arial"/>
                <a:cs typeface="Arial"/>
              </a:rPr>
              <a:t>Abdelali — dashboards et partage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3E782E42-9861-4535-858E-10F705C7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76C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96C10A6D-7AAF-4D51-8D80-57C98148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82F"/>
                </a:solidFill>
                <a:latin typeface="Arial"/>
                <a:ea typeface="Arial"/>
                <a:cs typeface="Arial"/>
              </a:rPr>
              <a:t>Widgets prédéfinis avec Recharts</a:t>
            </a:r>
          </a:p>
        </p:txBody>
      </p:sp>
      <p:sp>
        <p:nvSpPr>
          <p:cNvPr id="4" name="body-1">
            <a:extLst xmlns:a="http://schemas.openxmlformats.org/drawingml/2006/main">
              <a:ext uri="{FF2B5EF4-FFF2-40B4-BE49-F238E27FC236}">
                <a16:creationId xmlns:a16="http://schemas.microsoft.com/office/drawing/2014/main" id="{E90A3693-993A-49BF-AE2D-A7F20034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82F"/>
                </a:solidFill>
                <a:latin typeface="Arial"/>
                <a:ea typeface="Arial"/>
                <a:cs typeface="Arial"/>
              </a:rPr>
              <a:t>Filtres communs à tous les widgets</a:t>
            </a:r>
          </a:p>
        </p:txBody>
      </p:sp>
      <p:sp>
        <p:nvSpPr>
          <p:cNvPr id="5" name="body-2">
            <a:extLst xmlns:a="http://schemas.openxmlformats.org/drawingml/2006/main">
              <a:ext uri="{FF2B5EF4-FFF2-40B4-BE49-F238E27FC236}">
                <a16:creationId xmlns:a16="http://schemas.microsoft.com/office/drawing/2014/main" id="{4C00D693-19D3-4395-9299-8C73694D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82F"/>
                </a:solidFill>
                <a:latin typeface="Arial"/>
                <a:ea typeface="Arial"/>
                <a:cs typeface="Arial"/>
              </a:rPr>
              <a:t>Configuration enregistrée en base</a:t>
            </a:r>
          </a:p>
        </p:txBody>
      </p:sp>
      <p:sp>
        <p:nvSpPr>
          <p:cNvPr id="6" name="body-3">
            <a:extLst xmlns:a="http://schemas.openxmlformats.org/drawingml/2006/main">
              <a:ext uri="{FF2B5EF4-FFF2-40B4-BE49-F238E27FC236}">
                <a16:creationId xmlns:a16="http://schemas.microsoft.com/office/drawing/2014/main" id="{54B1C8ED-4B5D-4C13-A1A0-53FB5EBC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82F"/>
                </a:solidFill>
                <a:latin typeface="Arial"/>
                <a:ea typeface="Arial"/>
                <a:cs typeface="Arial"/>
              </a:rPr>
              <a:t>Partage en lecture seule et révocation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7632A-F7CA-4B6C-BF45-0D8A9726DF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dc09bab0394ef3"/>
          <a:stretch xmlns:a="http://schemas.openxmlformats.org/drawingml/2006/main"/>
        </p:blipFill>
        <p:spPr>
          <a:xfrm xmlns:a="http://schemas.openxmlformats.org/drawingml/2006/main">
            <a:off x="4804410" y="1571625"/>
            <a:ext cx="658368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9520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5AD9658A-438A-49C1-BE6E-A73EA94C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634C"/>
                </a:solidFill>
                <a:latin typeface="Arial"/>
                <a:ea typeface="Arial"/>
                <a:cs typeface="Arial"/>
              </a:rPr>
              <a:t>Yassine — accès et administration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93EC65E5-93F0-4075-8B2A-925254C6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76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252518B5-9486-4E47-BE95-49F18E01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82F"/>
                </a:solidFill>
                <a:latin typeface="Arial"/>
                <a:ea typeface="Arial"/>
                <a:cs typeface="Arial"/>
              </a:rPr>
              <a:t>Inscription, connexion et profil</a:t>
            </a:r>
          </a:p>
        </p:txBody>
      </p:sp>
      <p:sp>
        <p:nvSpPr>
          <p:cNvPr id="4" name="body-1">
            <a:extLst xmlns:a="http://schemas.openxmlformats.org/drawingml/2006/main">
              <a:ext uri="{FF2B5EF4-FFF2-40B4-BE49-F238E27FC236}">
                <a16:creationId xmlns:a16="http://schemas.microsoft.com/office/drawing/2014/main" id="{A42AB694-5906-486A-8142-AB609DA9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82F"/>
                </a:solidFill>
                <a:latin typeface="Arial"/>
                <a:ea typeface="Arial"/>
                <a:cs typeface="Arial"/>
              </a:rPr>
              <a:t>Permissions contrôlées par l’API</a:t>
            </a:r>
          </a:p>
        </p:txBody>
      </p:sp>
      <p:sp>
        <p:nvSpPr>
          <p:cNvPr id="5" name="body-2">
            <a:extLst xmlns:a="http://schemas.openxmlformats.org/drawingml/2006/main">
              <a:ext uri="{FF2B5EF4-FFF2-40B4-BE49-F238E27FC236}">
                <a16:creationId xmlns:a16="http://schemas.microsoft.com/office/drawing/2014/main" id="{97323378-A591-4F3B-8A75-24D517E0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82F"/>
                </a:solidFill>
                <a:latin typeface="Arial"/>
                <a:ea typeface="Arial"/>
                <a:cs typeface="Arial"/>
              </a:rPr>
              <a:t>Gestion des rôles et des comptes</a:t>
            </a:r>
          </a:p>
        </p:txBody>
      </p:sp>
      <p:sp>
        <p:nvSpPr>
          <p:cNvPr id="6" name="body-3">
            <a:extLst xmlns:a="http://schemas.openxmlformats.org/drawingml/2006/main">
              <a:ext uri="{FF2B5EF4-FFF2-40B4-BE49-F238E27FC236}">
                <a16:creationId xmlns:a16="http://schemas.microsoft.com/office/drawing/2014/main" id="{5EB3774A-DA38-4800-B4A9-F7D3C564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82F"/>
                </a:solidFill>
                <a:latin typeface="Arial"/>
                <a:ea typeface="Arial"/>
                <a:cs typeface="Arial"/>
              </a:rPr>
              <a:t>Vue globale des datasets et activités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224F7-2306-4822-AFE5-E84F44733D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ba2de15714dd9"/>
          <a:stretch xmlns:a="http://schemas.openxmlformats.org/drawingml/2006/main"/>
        </p:blipFill>
        <p:spPr>
          <a:xfrm xmlns:a="http://schemas.openxmlformats.org/drawingml/2006/main">
            <a:off x="4804410" y="1571625"/>
            <a:ext cx="658368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7480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B5D1105-4A9C-4EA4-A031-1F608CE4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634C"/>
                </a:solidFill>
                <a:latin typeface="Arial"/>
                <a:ea typeface="Arial"/>
                <a:cs typeface="Arial"/>
              </a:rPr>
              <a:t>Un exemple fictif avec résultats vérifiés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6A6CC882-456E-4EA4-9AB7-EBBA168D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76C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" name="demo-metrics">
            <a:extLst xmlns:a="http://schemas.openxmlformats.org/drawingml/2006/main">
              <a:ext uri="{FF2B5EF4-FFF2-40B4-BE49-F238E27FC236}">
                <a16:creationId xmlns:a16="http://schemas.microsoft.com/office/drawing/2014/main" id="{AD175D08-9019-4D22-8F7B-D01E6A73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82F"/>
                </a:solidFill>
                <a:latin typeface="Arial"/>
                <a:ea typeface="Arial"/>
                <a:cs typeface="Arial"/>
              </a:rPr>
              <a:t>141,75 GBP de CA net</a:t>
            </a:r>
          </a:p>
          <a:p xmlns:a="http://schemas.openxmlformats.org/drawingml/2006/main">
            <a:pPr>
              <a:defRPr sz="25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82F"/>
                </a:solidFill>
                <a:latin typeface="Arial"/>
                <a:ea typeface="Arial"/>
                <a:cs typeface="Arial"/>
              </a:rPr>
              <a:t>6 commandes · panier moyen 23,63 GBP</a:t>
            </a:r>
          </a:p>
          <a:p xmlns:a="http://schemas.openxmlformats.org/drawingml/2006/main">
            <a:pPr>
              <a:defRPr sz="2550" b="1">
                <a:solidFill>
                  <a:srgbClr val="18382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82F"/>
                </a:solidFill>
                <a:latin typeface="Arial"/>
                <a:ea typeface="Arial"/>
                <a:cs typeface="Arial"/>
              </a:rPr>
              <a:t>Qualité : 90 / 100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EED04F2E-2603-46A8-9706-DB3D0B691B29}"/>
              </a:ext>
            </a:extLst>
          </p:cNvPr>
          <p:cNvGraphicFramePr/>
          <p:nvPr/>
        </p:nvGraphicFramePr>
        <p:xfrm>
          <a:off xmlns:a="http://schemas.openxmlformats.org/drawingml/2006/main" x="6286500" y="1762125"/>
          <a:ext xmlns:a="http://schemas.openxmlformats.org/drawingml/2006/main" cx="50482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2c838e20d64e50"/>
          </a:graphicData>
        </a:graphic>
      </p:graphicFrame>
      <p:sp>
        <p:nvSpPr>
          <p:cNvPr id="5" name="test-result">
            <a:extLst xmlns:a="http://schemas.openxmlformats.org/drawingml/2006/main">
              <a:ext uri="{FF2B5EF4-FFF2-40B4-BE49-F238E27FC236}">
                <a16:creationId xmlns:a16="http://schemas.microsoft.com/office/drawing/2014/main" id="{8F0E482D-9798-4A93-9C71-54726531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634C"/>
                </a:solidFill>
                <a:latin typeface="Arial"/>
                <a:ea typeface="Arial"/>
                <a:cs typeface="Arial"/>
              </a:rPr>
              <a:t>12 tests automatisés réussis et parcours navigateur vérifié</a:t>
            </a:r>
          </a:p>
        </p:txBody>
      </p:sp>
    </p:spTree>
    <p:extLst>
      <p:ext uri="{BB962C8B-B14F-4D97-AF65-F5344CB8AC3E}">
        <p14:creationId xmlns:p14="http://schemas.microsoft.com/office/powerpoint/2010/main" val="19587778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84DB4CBC-2084-4BDC-8073-86E9D038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634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634C"/>
                </a:solidFill>
                <a:latin typeface="Arial"/>
                <a:ea typeface="Arial"/>
                <a:cs typeface="Arial"/>
              </a:rPr>
              <a:t>Démonstration et limites du MVP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4DD85C37-DF56-45D8-8DA7-4392EB94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7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76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F2C32569-1DB9-462B-8F44-03DCB64E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82F"/>
                </a:solidFill>
                <a:latin typeface="Arial"/>
                <a:ea typeface="Arial"/>
                <a:cs typeface="Arial"/>
              </a:rPr>
              <a:t>Démonstration : CSV → analyse → dashboard → partage</a:t>
            </a:r>
          </a:p>
        </p:txBody>
      </p:sp>
      <p:sp>
        <p:nvSpPr>
          <p:cNvPr id="4" name="body-1">
            <a:extLst xmlns:a="http://schemas.openxmlformats.org/drawingml/2006/main">
              <a:ext uri="{FF2B5EF4-FFF2-40B4-BE49-F238E27FC236}">
                <a16:creationId xmlns:a16="http://schemas.microsoft.com/office/drawing/2014/main" id="{7AA0E66A-0E42-45A9-957B-D09F559F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82F"/>
                </a:solidFill>
                <a:latin typeface="Arial"/>
                <a:ea typeface="Arial"/>
                <a:cs typeface="Arial"/>
              </a:rPr>
              <a:t>Un même fichier n’est pas importé deux fois</a:t>
            </a:r>
          </a:p>
        </p:txBody>
      </p:sp>
      <p:sp>
        <p:nvSpPr>
          <p:cNvPr id="5" name="body-2">
            <a:extLst xmlns:a="http://schemas.openxmlformats.org/drawingml/2006/main">
              <a:ext uri="{FF2B5EF4-FFF2-40B4-BE49-F238E27FC236}">
                <a16:creationId xmlns:a16="http://schemas.microsoft.com/office/drawing/2014/main" id="{40BDA4CB-DC80-4042-9460-3FF89939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82F"/>
                </a:solidFill>
                <a:latin typeface="Arial"/>
                <a:ea typeface="Arial"/>
                <a:cs typeface="Arial"/>
              </a:rPr>
              <a:t>Les données privées restent protégées</a:t>
            </a:r>
          </a:p>
        </p:txBody>
      </p:sp>
      <p:sp>
        <p:nvSpPr>
          <p:cNvPr id="6" name="body-3">
            <a:extLst xmlns:a="http://schemas.openxmlformats.org/drawingml/2006/main">
              <a:ext uri="{FF2B5EF4-FFF2-40B4-BE49-F238E27FC236}">
                <a16:creationId xmlns:a16="http://schemas.microsoft.com/office/drawing/2014/main" id="{79BE61B1-0C64-454E-85D6-22D9C64F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82F"/>
                </a:solidFill>
                <a:latin typeface="Arial"/>
                <a:ea typeface="Arial"/>
                <a:cs typeface="Arial"/>
              </a:rPr>
              <a:t>Limites : petits volumes et traitement en arrière-plan simple</a:t>
            </a:r>
          </a:p>
        </p:txBody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3D220309-B2D6-4A08-A0CE-71DA8457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8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82F"/>
                </a:solidFill>
                <a:latin typeface="Arial"/>
                <a:ea typeface="Arial"/>
                <a:cs typeface="Arial"/>
              </a:rPr>
              <a:t>Évolutions : gros fichiers, reprise de compte et déploiement</a:t>
            </a:r>
          </a:p>
        </p:txBody>
      </p:sp>
    </p:spTree>
    <p:extLst>
      <p:ext uri="{BB962C8B-B14F-4D97-AF65-F5344CB8AC3E}">
        <p14:creationId xmlns:p14="http://schemas.microsoft.com/office/powerpoint/2010/main" val="7436572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2026-10-25T21:09:11.6230000Z</dcterms:created>
  <dcterms:modified xsi:type="dcterms:W3CDTF">2026-10-25T21:09:11.6230000Z</dcterms:modified>
</coreProperties>
</file>